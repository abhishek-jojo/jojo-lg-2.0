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562088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OJ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76072"/>
            <a:ext cx="1325880" cy="42617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58368" y="1472184"/>
            <a:ext cx="2057400" cy="283464"/>
          </a:xfrm>
          <a:prstGeom prst="round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531620"/>
            <a:ext cx="1911095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SELLER LOUNGE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83664"/>
            <a:ext cx="3657600" cy="1280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UX Scenario
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3310128"/>
            <a:ext cx="32918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2D4D8"/>
                </a:solidFill>
                <a:latin typeface="Arial"/>
              </a:rPr>
              <a:t>LG webOS TV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133087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7AAB0"/>
                </a:solidFill>
                <a:latin typeface="Arial"/>
              </a:rPr>
              <a:t>App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4379976"/>
            <a:ext cx="27432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in.jojoapp.jojo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4846320"/>
            <a:ext cx="3291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2D4D8"/>
                </a:solidFill>
                <a:latin typeface="Arial"/>
              </a:rPr>
              <a:t>Version 1.0.0  •  29 September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484632"/>
            <a:ext cx="5879592" cy="62727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920x1080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603504"/>
            <a:ext cx="5641848" cy="31729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81728" y="4133087"/>
            <a:ext cx="50292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C1C1F"/>
                </a:solidFill>
                <a:latin typeface="Arial"/>
              </a:rPr>
              <a:t>JOJO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4636008"/>
            <a:ext cx="4892040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6B72"/>
                </a:solidFill>
                <a:latin typeface="Arial"/>
              </a:rPr>
              <a:t>Gujarati movies, shows, natak, kids content and premium entertainment — designed for TV remote navigation.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1728" y="5806440"/>
            <a:ext cx="4407408" cy="13716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6025896"/>
            <a:ext cx="438912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6F20"/>
                </a:solidFill>
                <a:latin typeface="Arial"/>
              </a:rPr>
              <a:t>Prepared for LG Seller Lounge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6327648"/>
            <a:ext cx="4480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76B72"/>
                </a:solidFill>
                <a:latin typeface="Arial"/>
              </a:rPr>
              <a:t>JOJO Limited  •  support@appjojo.in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118872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OJ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9456"/>
            <a:ext cx="960120" cy="308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632" y="228600"/>
            <a:ext cx="29260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6F20"/>
                </a:solidFill>
                <a:latin typeface="Arial"/>
              </a:rPr>
              <a:t>DOCUMENT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438912"/>
            <a:ext cx="8138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1C1F"/>
                </a:solidFill>
                <a:latin typeface="Arial"/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25603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6B72"/>
                </a:solidFill>
                <a:latin typeface="Arial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60120"/>
            <a:ext cx="9811512" cy="13716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307592"/>
            <a:ext cx="4562856" cy="96926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81328"/>
            <a:ext cx="56692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6F20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463039"/>
            <a:ext cx="334670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1C1F"/>
                </a:solidFill>
                <a:latin typeface="Arial"/>
              </a:rPr>
              <a:t>Basic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1764792"/>
            <a:ext cx="334670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6B72"/>
                </a:solidFill>
                <a:latin typeface="Arial"/>
              </a:rPr>
              <a:t>Identity, platform and service scope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551176"/>
            <a:ext cx="4562856" cy="96926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24912"/>
            <a:ext cx="56692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6F20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706624"/>
            <a:ext cx="334670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1C1F"/>
                </a:solidFill>
                <a:latin typeface="Arial"/>
              </a:rPr>
              <a:t>Document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3008376"/>
            <a:ext cx="334670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6B72"/>
                </a:solidFill>
                <a:latin typeface="Arial"/>
              </a:rPr>
              <a:t>Version and submission record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794760"/>
            <a:ext cx="4562856" cy="96926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968496"/>
            <a:ext cx="56692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6F20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50208"/>
            <a:ext cx="334670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1C1F"/>
                </a:solidFill>
                <a:latin typeface="Arial"/>
              </a:rPr>
              <a:t>Remote &amp; 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251960"/>
            <a:ext cx="334670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6B72"/>
                </a:solidFill>
                <a:latin typeface="Arial"/>
              </a:rPr>
              <a:t>Required controls and authentication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038344"/>
            <a:ext cx="4562856" cy="96926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212080"/>
            <a:ext cx="56692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6F20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6192" y="5193792"/>
            <a:ext cx="334670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1C1F"/>
                </a:solidFill>
                <a:latin typeface="Arial"/>
              </a:rPr>
              <a:t>Main Page Description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6192" y="5495544"/>
            <a:ext cx="334670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6B72"/>
                </a:solidFill>
                <a:latin typeface="Arial"/>
              </a:rPr>
              <a:t>Home hero and content browsing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13831" y="1307592"/>
            <a:ext cx="4562856" cy="96926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4999" y="1481328"/>
            <a:ext cx="56692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6F20"/>
                </a:solidFill>
                <a:latin typeface="Arial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1" y="1463039"/>
            <a:ext cx="334670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1C1F"/>
                </a:solidFill>
                <a:latin typeface="Arial"/>
              </a:rPr>
              <a:t>Sub Page Description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1" y="1764792"/>
            <a:ext cx="334670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6B72"/>
                </a:solidFill>
                <a:latin typeface="Arial"/>
              </a:rPr>
              <a:t>Detail, episodes and search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13831" y="2551176"/>
            <a:ext cx="4562856" cy="96926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4999" y="2724912"/>
            <a:ext cx="56692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6F20"/>
                </a:solidFill>
                <a:latin typeface="Arial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1" y="2706624"/>
            <a:ext cx="334670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1C1F"/>
                </a:solidFill>
                <a:latin typeface="Arial"/>
              </a:rPr>
              <a:t>Paid Content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1" y="3008376"/>
            <a:ext cx="334670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6B72"/>
                </a:solidFill>
                <a:latin typeface="Arial"/>
              </a:rPr>
              <a:t>Gold and one-time purchase flow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13831" y="3794760"/>
            <a:ext cx="4562856" cy="96926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4999" y="3968496"/>
            <a:ext cx="56692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6F20"/>
                </a:solidFill>
                <a:latin typeface="Arial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1" y="3950208"/>
            <a:ext cx="334670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1C1F"/>
                </a:solidFill>
                <a:latin typeface="Arial"/>
              </a:rPr>
              <a:t>In-App 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1" y="4251960"/>
            <a:ext cx="334670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6B72"/>
                </a:solidFill>
                <a:latin typeface="Arial"/>
              </a:rPr>
              <a:t>Video advertisement behavior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13831" y="5038344"/>
            <a:ext cx="4562856" cy="96926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4999" y="5212080"/>
            <a:ext cx="56692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6F20"/>
                </a:solidFill>
                <a:latin typeface="Arial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1" y="5193792"/>
            <a:ext cx="3346704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1C1F"/>
                </a:solidFill>
                <a:latin typeface="Arial"/>
              </a:rPr>
              <a:t>Reviewer Test Information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1" y="5495544"/>
            <a:ext cx="334670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6B72"/>
                </a:solidFill>
                <a:latin typeface="Arial"/>
              </a:rPr>
              <a:t>Pre-submission handoff fields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" y="7068312"/>
            <a:ext cx="9811512" cy="10972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7150608"/>
            <a:ext cx="566928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JOJO  |  LG webOS TV UX Scenario  |  v1.0.0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7150608"/>
            <a:ext cx="2331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29 SEP 2026   •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118872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OJ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9456"/>
            <a:ext cx="960120" cy="308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632" y="228600"/>
            <a:ext cx="29260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6F20"/>
                </a:solidFill>
                <a:latin typeface="Arial"/>
              </a:rPr>
              <a:t>1. BASIC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438912"/>
            <a:ext cx="8138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1C1F"/>
                </a:solidFill>
                <a:latin typeface="Arial"/>
              </a:rPr>
              <a:t>Application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25603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6B72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60120"/>
            <a:ext cx="9811512" cy="13716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" y="1261872"/>
            <a:ext cx="4572000" cy="7315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1261872"/>
            <a:ext cx="73152" cy="731520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71600"/>
            <a:ext cx="4242816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76B72"/>
                </a:solidFill>
                <a:latin typeface="Arial"/>
              </a:rPr>
              <a:t>APP 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572768"/>
            <a:ext cx="424281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JOJO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1261872"/>
            <a:ext cx="4572000" cy="7315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32120" y="1261872"/>
            <a:ext cx="73152" cy="731520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2" y="1371600"/>
            <a:ext cx="4242816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76B72"/>
                </a:solidFill>
                <a:latin typeface="Arial"/>
              </a:rPr>
              <a:t>APP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2" y="1572768"/>
            <a:ext cx="424281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in.jojoapp.jojo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212848"/>
            <a:ext cx="4572000" cy="7315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" y="2212848"/>
            <a:ext cx="73152" cy="731520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322576"/>
            <a:ext cx="4242816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76B72"/>
                </a:solidFill>
                <a:latin typeface="Arial"/>
              </a:rPr>
              <a:t>APP 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523744"/>
            <a:ext cx="424281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1.0.0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2212848"/>
            <a:ext cx="4572000" cy="7315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32120" y="2212848"/>
            <a:ext cx="73152" cy="731520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2432" y="2322576"/>
            <a:ext cx="4242816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76B72"/>
                </a:solidFill>
                <a:latin typeface="Arial"/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2" y="2523744"/>
            <a:ext cx="424281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Entertainment  ›  Movie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3163824"/>
            <a:ext cx="4572000" cy="7315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" y="3163824"/>
            <a:ext cx="73152" cy="731520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273552"/>
            <a:ext cx="4242816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76B72"/>
                </a:solidFill>
                <a:latin typeface="Arial"/>
              </a:rPr>
              <a:t>APPLICATION 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474720"/>
            <a:ext cx="424281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Web app for LG webOS TV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32120" y="3163824"/>
            <a:ext cx="4572000" cy="7315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32120" y="3163824"/>
            <a:ext cx="73152" cy="731520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42432" y="3273552"/>
            <a:ext cx="4242816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76B72"/>
                </a:solidFill>
                <a:latin typeface="Arial"/>
              </a:rPr>
              <a:t>SERVICE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2432" y="3474720"/>
            <a:ext cx="424281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2022 and later / per uploaded device group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" y="4114800"/>
            <a:ext cx="4572000" cy="7315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" y="4114800"/>
            <a:ext cx="73152" cy="731520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224528"/>
            <a:ext cx="4242816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76B72"/>
                </a:solidFill>
                <a:latin typeface="Arial"/>
              </a:rPr>
              <a:t>DISPLAY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425696"/>
            <a:ext cx="424281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1920 × 1080 UHD application UI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32120" y="4114800"/>
            <a:ext cx="4572000" cy="7315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32120" y="4114800"/>
            <a:ext cx="73152" cy="731520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42432" y="4224528"/>
            <a:ext cx="4242816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76B72"/>
                </a:solidFill>
                <a:latin typeface="Arial"/>
              </a:rPr>
              <a:t>REMOTE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42432" y="4425696"/>
            <a:ext cx="424281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Magic and general remote supported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" y="5065776"/>
            <a:ext cx="4572000" cy="7315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" y="5065776"/>
            <a:ext cx="73152" cy="731520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175504"/>
            <a:ext cx="4242816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76B72"/>
                </a:solidFill>
                <a:latin typeface="Arial"/>
              </a:rPr>
              <a:t>PRIMARY LANGUAGE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376672"/>
            <a:ext cx="424281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English UI; Gujarati content catalogue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32120" y="5065776"/>
            <a:ext cx="4572000" cy="73152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532120" y="5065776"/>
            <a:ext cx="73152" cy="731520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42432" y="5175504"/>
            <a:ext cx="4242816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76B72"/>
                </a:solidFill>
                <a:latin typeface="Arial"/>
              </a:rPr>
              <a:t>SUPPORT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42432" y="5376672"/>
            <a:ext cx="424281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support@appjojo.in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2648" y="6144768"/>
            <a:ext cx="9491472" cy="548640"/>
          </a:xfrm>
          <a:prstGeom prst="roundRect">
            <a:avLst/>
          </a:prstGeom>
          <a:solidFill>
            <a:srgbClr val="FFF6EE"/>
          </a:solidFill>
          <a:ln w="12700">
            <a:solidFill>
              <a:srgbClr val="FBC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" y="6309360"/>
            <a:ext cx="111556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B490D"/>
                </a:solidFill>
                <a:latin typeface="Arial"/>
              </a:rPr>
              <a:t>Submission note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93392" y="6254496"/>
            <a:ext cx="7818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C1C1F"/>
                </a:solidFill>
                <a:latin typeface="Arial"/>
              </a:rPr>
              <a:t>Country availability and exact model rows follow the selections made in Seller Lounge.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12" y="7068312"/>
            <a:ext cx="9811512" cy="10972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7150608"/>
            <a:ext cx="566928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JOJO  |  LG webOS TV UX Scenario  |  v1.0.0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60" y="7150608"/>
            <a:ext cx="2331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29 SEP 2026   •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118872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OJ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9456"/>
            <a:ext cx="960120" cy="308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632" y="228600"/>
            <a:ext cx="29260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6F20"/>
                </a:solidFill>
                <a:latin typeface="Arial"/>
              </a:rPr>
              <a:t>2. DOCUMENT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438912"/>
            <a:ext cx="8138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1C1F"/>
                </a:solidFill>
                <a:latin typeface="Arial"/>
              </a:rPr>
              <a:t>Submission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25603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6B72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60120"/>
            <a:ext cx="9811512" cy="13716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" y="1444752"/>
            <a:ext cx="1463040" cy="548640"/>
          </a:xfrm>
          <a:prstGeom prst="rect">
            <a:avLst/>
          </a:prstGeom>
          <a:solidFill>
            <a:srgbClr val="1C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618488"/>
            <a:ext cx="124358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Sent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5688" y="1444752"/>
            <a:ext cx="1188720" cy="548640"/>
          </a:xfrm>
          <a:prstGeom prst="rect">
            <a:avLst/>
          </a:prstGeom>
          <a:solidFill>
            <a:srgbClr val="1C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85416" y="1618488"/>
            <a:ext cx="96926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Version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1444752"/>
            <a:ext cx="3886200" cy="548640"/>
          </a:xfrm>
          <a:prstGeom prst="rect">
            <a:avLst/>
          </a:prstGeom>
          <a:solidFill>
            <a:srgbClr val="1C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4136" y="1618488"/>
            <a:ext cx="366674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File 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50608" y="1444752"/>
            <a:ext cx="2880360" cy="548640"/>
          </a:xfrm>
          <a:prstGeom prst="rect">
            <a:avLst/>
          </a:prstGeom>
          <a:solidFill>
            <a:srgbClr val="1C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0336" y="1618488"/>
            <a:ext cx="266090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Contents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1993392"/>
            <a:ext cx="1463040" cy="841248"/>
          </a:xfrm>
          <a:prstGeom prst="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2240280"/>
            <a:ext cx="124358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29.09.2026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75688" y="1993392"/>
            <a:ext cx="1188720" cy="841248"/>
          </a:xfrm>
          <a:prstGeom prst="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85416" y="2240280"/>
            <a:ext cx="96926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1.0.0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64408" y="1993392"/>
            <a:ext cx="3886200" cy="841248"/>
          </a:xfrm>
          <a:prstGeom prst="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74136" y="2240280"/>
            <a:ext cx="366674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JOJO_LG_UX_Scenario_v1.0.0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1993392"/>
            <a:ext cx="2880360" cy="841248"/>
          </a:xfrm>
          <a:prstGeom prst="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240280"/>
            <a:ext cx="266090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1C1F"/>
                </a:solidFill>
                <a:latin typeface="Arial"/>
              </a:rPr>
              <a:t>Initial LG Seller Lounge submission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3310128"/>
            <a:ext cx="9418320" cy="2231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2104" y="3575304"/>
            <a:ext cx="1572768" cy="283464"/>
          </a:xfrm>
          <a:prstGeom prst="round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34740"/>
            <a:ext cx="1426464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SCOPE OF THIS REVISION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041648"/>
            <a:ext cx="8805672" cy="11704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300" b="0">
                <a:solidFill>
                  <a:srgbClr val="1C1C1F"/>
                </a:solidFill>
                <a:latin typeface="Arial"/>
              </a:defRPr>
            </a:pPr>
            <a:r>
              <a:t>•  Documents the LG TV launch, authentication and remote-navigation paths.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 b="0">
                <a:solidFill>
                  <a:srgbClr val="1C1C1F"/>
                </a:solidFill>
                <a:latin typeface="Arial"/>
              </a:defRPr>
            </a:pPr>
            <a:r>
              <a:t>•  Covers Home, card focus, asset detail, episodic content and Search.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 b="0">
                <a:solidFill>
                  <a:srgbClr val="1C1C1F"/>
                </a:solidFill>
                <a:latin typeface="Arial"/>
              </a:defRPr>
            </a:pPr>
            <a:r>
              <a:t>•  Records paid-content and video-ad behavior for certification review.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 b="0">
                <a:solidFill>
                  <a:srgbClr val="1C1C1F"/>
                </a:solidFill>
                <a:latin typeface="Arial"/>
              </a:defRPr>
            </a:pPr>
            <a:r>
              <a:t>•  Uses production-style screenshots supplied by the submission owner.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5824728"/>
            <a:ext cx="9418320" cy="621792"/>
          </a:xfrm>
          <a:prstGeom prst="roundRect">
            <a:avLst/>
          </a:prstGeom>
          <a:solidFill>
            <a:srgbClr val="FCFCFD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6016752"/>
            <a:ext cx="89885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76B72"/>
                </a:solidFill>
                <a:latin typeface="Arial"/>
              </a:rPr>
              <a:t>Owner action: update this row whenever the app binary, reviewer flow or screenshots change.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" y="7068312"/>
            <a:ext cx="9811512" cy="10972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7150608"/>
            <a:ext cx="566928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JOJO  |  LG webOS TV UX Scenario  |  v1.0.0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7150608"/>
            <a:ext cx="2331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29 SEP 2026   •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118872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OJ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9456"/>
            <a:ext cx="960120" cy="308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632" y="228600"/>
            <a:ext cx="29260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6F20"/>
                </a:solidFill>
                <a:latin typeface="Arial"/>
              </a:rPr>
              <a:t>3. PAGE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438912"/>
            <a:ext cx="8138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1C1F"/>
                </a:solidFill>
                <a:latin typeface="Arial"/>
              </a:rPr>
              <a:t>Device Requirements &amp; Remote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25603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6B72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60120"/>
            <a:ext cx="9811512" cy="13716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" y="1261872"/>
            <a:ext cx="1737360" cy="283464"/>
          </a:xfrm>
          <a:prstGeom prst="round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21307"/>
            <a:ext cx="1591056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SELLER LOUNGE SELECTIONS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709928"/>
            <a:ext cx="4224528" cy="749808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" y="1709928"/>
            <a:ext cx="73152" cy="749808"/>
          </a:xfrm>
          <a:prstGeom prst="rect">
            <a:avLst/>
          </a:prstGeom>
          <a:solidFill>
            <a:srgbClr val="168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19656"/>
            <a:ext cx="3895344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76B72"/>
                </a:solidFill>
                <a:latin typeface="Arial"/>
              </a:rPr>
              <a:t>DEVICE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020824"/>
            <a:ext cx="3895344" cy="3840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None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2679192"/>
            <a:ext cx="4224528" cy="749808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" y="2679192"/>
            <a:ext cx="73152" cy="749808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88920"/>
            <a:ext cx="3895344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76B72"/>
                </a:solidFill>
                <a:latin typeface="Arial"/>
              </a:rPr>
              <a:t>REMOTE 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90088"/>
            <a:ext cx="3895344" cy="3840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Both Magic and general remote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3648456"/>
            <a:ext cx="4224528" cy="749808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" y="3648456"/>
            <a:ext cx="73152" cy="749808"/>
          </a:xfrm>
          <a:prstGeom prst="rect">
            <a:avLst/>
          </a:prstGeom>
          <a:solidFill>
            <a:srgbClr val="676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58184"/>
            <a:ext cx="3895344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76B72"/>
                </a:solidFill>
                <a:latin typeface="Arial"/>
              </a:rPr>
              <a:t>DIAL APP 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959352"/>
            <a:ext cx="3895344" cy="384047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Leave blank — DIAL is not required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66360" y="1261872"/>
            <a:ext cx="1225296" cy="283464"/>
          </a:xfrm>
          <a:prstGeom prst="round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9512" y="1321307"/>
            <a:ext cx="1078992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NAVIGATION 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66360" y="1700784"/>
            <a:ext cx="4892040" cy="768096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58384" y="1865376"/>
            <a:ext cx="11064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6F20"/>
                </a:solidFill>
                <a:latin typeface="Arial"/>
              </a:rPr>
              <a:t>D-pad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1819656"/>
            <a:ext cx="331012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C1C1F"/>
                </a:solidFill>
                <a:latin typeface="Arial"/>
              </a:rPr>
              <a:t>Moves the visible focus between navigation items, cards and controls.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6360" y="2660904"/>
            <a:ext cx="4892040" cy="768096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58384" y="2825496"/>
            <a:ext cx="11064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6F20"/>
                </a:solidFill>
                <a:latin typeface="Arial"/>
              </a:rPr>
              <a:t>OK / Wheel click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2779776"/>
            <a:ext cx="331012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C1C1F"/>
                </a:solidFill>
                <a:latin typeface="Arial"/>
              </a:rPr>
              <a:t>Activates the focused item and starts the selected action.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66360" y="3621024"/>
            <a:ext cx="4892040" cy="768096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58384" y="3785615"/>
            <a:ext cx="11064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6F20"/>
                </a:solidFill>
                <a:latin typeface="Arial"/>
              </a:rPr>
              <a:t>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3739896"/>
            <a:ext cx="331012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C1C1F"/>
                </a:solidFill>
                <a:latin typeface="Arial"/>
              </a:rPr>
              <a:t>Returns one level; at the app root it follows the webOS close/back flow.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66360" y="4581144"/>
            <a:ext cx="4892040" cy="768096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58384" y="4745736"/>
            <a:ext cx="11064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6F20"/>
                </a:solidFill>
                <a:latin typeface="Arial"/>
              </a:rPr>
              <a:t>Magic pointer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4700016"/>
            <a:ext cx="3310128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C1C1F"/>
                </a:solidFill>
                <a:latin typeface="Arial"/>
              </a:rPr>
              <a:t>Pointer selection is supported where available; D-pad remains primary.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" y="4974336"/>
            <a:ext cx="9445752" cy="1408176"/>
          </a:xfrm>
          <a:prstGeom prst="roundRect">
            <a:avLst/>
          </a:prstGeom>
          <a:solidFill>
            <a:srgbClr val="1C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57800"/>
            <a:ext cx="1051560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56F20"/>
                </a:solidFill>
                <a:latin typeface="Arial"/>
              </a:rPr>
              <a:t>FOCUS RULE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550408"/>
            <a:ext cx="41605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Every actionable TV element presents a visible focus state before activation.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5294376"/>
            <a:ext cx="43891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CDEE2"/>
                </a:solidFill>
                <a:latin typeface="Arial"/>
              </a:rPr>
              <a:t>The screenshots show the white focus border / expanded card used throughout browsing. Focus returns to a predictable item after Back navigation.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" y="7068312"/>
            <a:ext cx="9811512" cy="10972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7150608"/>
            <a:ext cx="566928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JOJO  |  LG webOS TV UX Scenario  |  v1.0.0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7150608"/>
            <a:ext cx="2331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29 SEP 2026   •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118872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OJ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9456"/>
            <a:ext cx="960120" cy="308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632" y="228600"/>
            <a:ext cx="29260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6F20"/>
                </a:solidFill>
                <a:latin typeface="Arial"/>
              </a:rPr>
              <a:t>3. DETAILED LOGIN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438912"/>
            <a:ext cx="8138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1C1F"/>
                </a:solidFill>
                <a:latin typeface="Arial"/>
              </a:rPr>
              <a:t>Sign-in &amp; TV Pairing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25603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6B72"/>
                </a:solidFill>
                <a:latin typeface="Arial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60120"/>
            <a:ext cx="9811512" cy="13716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7784" y="1463040"/>
            <a:ext cx="1728216" cy="1581912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" y="1627632"/>
            <a:ext cx="347472" cy="347472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632204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7568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77440"/>
            <a:ext cx="1417320" cy="4480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76B72"/>
                </a:solidFill>
                <a:latin typeface="Arial"/>
              </a:rPr>
              <a:t>Open JOJO from the LG launcher.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22576" y="1947672"/>
            <a:ext cx="1828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6F20"/>
                </a:solidFill>
                <a:latin typeface="Arial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51176" y="1463040"/>
            <a:ext cx="1728216" cy="1581912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97480" y="1627632"/>
            <a:ext cx="347472" cy="347472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632204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07568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Choose 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377440"/>
            <a:ext cx="1417320" cy="4480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76B72"/>
                </a:solidFill>
                <a:latin typeface="Arial"/>
              </a:rPr>
              <a:t>Use Phone/QR or enter mobile number / email.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1947672"/>
            <a:ext cx="1828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6F20"/>
                </a:solidFill>
                <a:latin typeface="Arial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4568" y="1463040"/>
            <a:ext cx="1728216" cy="1581912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90872" y="1627632"/>
            <a:ext cx="347472" cy="347472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1632204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0872" y="207568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2377440"/>
            <a:ext cx="1417320" cy="4480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76B72"/>
                </a:solidFill>
                <a:latin typeface="Arial"/>
              </a:rPr>
              <a:t>Pair from JOJO mobile app or enter the received OTP.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947672"/>
            <a:ext cx="1828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6F20"/>
                </a:solidFill>
                <a:latin typeface="Arial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1463040"/>
            <a:ext cx="1728216" cy="1581912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84264" y="1627632"/>
            <a:ext cx="347472" cy="347472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84264" y="1632204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207568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Select profile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4264" y="2377440"/>
            <a:ext cx="1417320" cy="4480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76B72"/>
                </a:solidFill>
                <a:latin typeface="Arial"/>
              </a:rPr>
              <a:t>Choose or create the viewing profile.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1947672"/>
            <a:ext cx="1828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6F20"/>
                </a:solidFill>
                <a:latin typeface="Arial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31352" y="1463040"/>
            <a:ext cx="1728216" cy="1581912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77656" y="1627632"/>
            <a:ext cx="347472" cy="347472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77656" y="1632204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77656" y="207568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Enter Home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77656" y="2377440"/>
            <a:ext cx="1417320" cy="4480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76B72"/>
                </a:solidFill>
                <a:latin typeface="Arial"/>
              </a:rPr>
              <a:t>Authenticated session opens the Home page.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" y="3474720"/>
            <a:ext cx="4590288" cy="2404872"/>
          </a:xfrm>
          <a:prstGeom prst="roundRect">
            <a:avLst/>
          </a:prstGeom>
          <a:solidFill>
            <a:srgbClr val="1C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9536" y="3730752"/>
            <a:ext cx="1216152" cy="283464"/>
          </a:xfrm>
          <a:prstGeom prst="round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3790188"/>
            <a:ext cx="1069848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PHONE / QR 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" y="4178808"/>
            <a:ext cx="4059936" cy="1307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080" b="0">
                <a:solidFill>
                  <a:srgbClr val="FFFFFF"/>
                </a:solidFill>
                <a:latin typeface="Arial"/>
              </a:defRPr>
            </a:pPr>
            <a:r>
              <a:t>•  Open the JOJO mobile app.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080" b="0">
                <a:solidFill>
                  <a:srgbClr val="FFFFFF"/>
                </a:solidFill>
                <a:latin typeface="Arial"/>
              </a:defRPr>
            </a:pPr>
            <a:r>
              <a:t>•  Go to Profile  ›  TV Login.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080" b="0">
                <a:solidFill>
                  <a:srgbClr val="FFFFFF"/>
                </a:solidFill>
                <a:latin typeface="Arial"/>
              </a:defRPr>
            </a:pPr>
            <a:r>
              <a:t>•  Scan the TV QR code or enter its unique pairing code.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080" b="0">
                <a:solidFill>
                  <a:srgbClr val="FFFFFF"/>
                </a:solidFill>
                <a:latin typeface="Arial"/>
              </a:defRPr>
            </a:pPr>
            <a:r>
              <a:t>•  The TV detects the verified session and continues automatically.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58968" y="3474720"/>
            <a:ext cx="4599432" cy="2404872"/>
          </a:xfrm>
          <a:prstGeom prst="roundRect">
            <a:avLst/>
          </a:prstGeom>
          <a:solidFill>
            <a:srgbClr val="FFF6EE"/>
          </a:solidFill>
          <a:ln w="12700">
            <a:solidFill>
              <a:srgbClr val="FBC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705856" y="3730752"/>
            <a:ext cx="1490472" cy="283464"/>
          </a:xfrm>
          <a:prstGeom prst="roundRect">
            <a:avLst/>
          </a:prstGeom>
          <a:solidFill>
            <a:srgbClr val="CB4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79008" y="3790188"/>
            <a:ext cx="1344168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REVIEWER CREDENTIALS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0" y="4197096"/>
            <a:ext cx="4005072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C1F"/>
                </a:solidFill>
                <a:latin typeface="Arial"/>
              </a:rPr>
              <a:t>Provide the test account and OTP / pairing method in Seller Lounge → Test Info.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5000" y="4882896"/>
            <a:ext cx="4023360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676B72"/>
                </a:solidFill>
                <a:latin typeface="Arial"/>
              </a:rPr>
              <a:t>Do not use a live customer account. If OTP is dynamic, provide a stable reviewer route or assisted test instructions.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" y="7068312"/>
            <a:ext cx="9811512" cy="10972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7150608"/>
            <a:ext cx="566928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JOJO  |  LG webOS TV UX Scenario  |  v1.0.0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9560" y="7150608"/>
            <a:ext cx="2331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29 SEP 2026   •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118872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OJ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9456"/>
            <a:ext cx="960120" cy="308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632" y="228600"/>
            <a:ext cx="29260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6F20"/>
                </a:solidFill>
                <a:latin typeface="Arial"/>
              </a:rPr>
              <a:t>4. MAIN PAGE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438912"/>
            <a:ext cx="8138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1C1F"/>
                </a:solidFill>
                <a:latin typeface="Arial"/>
              </a:rPr>
              <a:t>Home — Hero &amp; Global Navigation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25603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6B72"/>
                </a:solidFill>
                <a:latin typeface="Arial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60120"/>
            <a:ext cx="9811512" cy="13716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" y="1207007"/>
            <a:ext cx="6647688" cy="3785615"/>
          </a:xfrm>
          <a:prstGeom prst="roundRect">
            <a:avLst/>
          </a:prstGeom>
          <a:solidFill>
            <a:srgbClr val="1C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920x1080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61872"/>
            <a:ext cx="6537960" cy="3675887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4033418" y="2511673"/>
            <a:ext cx="292608" cy="29260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33418" y="2516245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3902659" y="2805744"/>
            <a:ext cx="292608" cy="29260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2659" y="2810316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2268169" y="3540922"/>
            <a:ext cx="292608" cy="29260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68169" y="3545494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3118104" y="4276100"/>
            <a:ext cx="292608" cy="29260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18104" y="4280672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8624" y="1207008"/>
            <a:ext cx="2971800" cy="5404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9792" y="1399032"/>
            <a:ext cx="1161288" cy="283464"/>
          </a:xfrm>
          <a:prstGeom prst="round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1458468"/>
            <a:ext cx="1014984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REVIEWER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79792" y="1810512"/>
            <a:ext cx="2569464" cy="8321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98664" y="1956816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98664" y="1961388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0144" y="1920240"/>
            <a:ext cx="191109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Open Home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2148840"/>
            <a:ext cx="1911095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76B72"/>
                </a:solidFill>
                <a:latin typeface="Arial"/>
              </a:rPr>
              <a:t>Launch the app after a valid sign-in.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2752344"/>
            <a:ext cx="2569464" cy="8321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98664" y="2898648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98664" y="2903220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4" y="2862072"/>
            <a:ext cx="191109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Move in header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3090672"/>
            <a:ext cx="1911095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76B72"/>
                </a:solidFill>
                <a:latin typeface="Arial"/>
              </a:rPr>
              <a:t>Use Left/Right across Home, Movies, Shows, Natak, Kids and Search.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79792" y="3694176"/>
            <a:ext cx="2569464" cy="8321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98664" y="3840480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98664" y="3845052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0144" y="3803904"/>
            <a:ext cx="191109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Browse hero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0144" y="4032504"/>
            <a:ext cx="1911095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76B72"/>
                </a:solidFill>
                <a:latin typeface="Arial"/>
              </a:rPr>
              <a:t>Move focus to the featured carousel and review its metadata.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79792" y="4636008"/>
            <a:ext cx="2569464" cy="8321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598664" y="4782312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98664" y="4786884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4" y="4745736"/>
            <a:ext cx="191109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Continue below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4" y="4974336"/>
            <a:ext cx="1911095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76B72"/>
                </a:solidFill>
                <a:latin typeface="Arial"/>
              </a:rPr>
              <a:t>Press Down to enter content rails.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148072"/>
            <a:ext cx="6537960" cy="14630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4944" y="5358384"/>
            <a:ext cx="1225296" cy="283464"/>
          </a:xfrm>
          <a:prstGeom prst="roundRect">
            <a:avLst/>
          </a:prstGeom>
          <a:solidFill>
            <a:srgbClr val="168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417820"/>
            <a:ext cx="1078992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EXPECTED RESULT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" y="5751576"/>
            <a:ext cx="6108192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C1C1F"/>
                </a:solidFill>
                <a:latin typeface="Arial"/>
              </a:rPr>
              <a:t>Home loads the current featured title, its rating/year/runtime and the first content rail. The focused navigation item remains visibly highlighted and all controls respond to the remote.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" y="7068312"/>
            <a:ext cx="9811512" cy="10972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7150608"/>
            <a:ext cx="566928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JOJO  |  LG webOS TV UX Scenario  |  v1.0.0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7150608"/>
            <a:ext cx="2331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29 SEP 2026   •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118872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OJ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9456"/>
            <a:ext cx="960120" cy="308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632" y="228600"/>
            <a:ext cx="29260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6F20"/>
                </a:solidFill>
                <a:latin typeface="Arial"/>
              </a:rPr>
              <a:t>4. MAIN PAGE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438912"/>
            <a:ext cx="8138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1C1F"/>
                </a:solidFill>
                <a:latin typeface="Arial"/>
              </a:rPr>
              <a:t>Content Rails — Focus &amp;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25603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6B72"/>
                </a:solidFill>
                <a:latin typeface="Arial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60120"/>
            <a:ext cx="9811512" cy="13716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" y="1207007"/>
            <a:ext cx="6647688" cy="3785615"/>
          </a:xfrm>
          <a:prstGeom prst="roundRect">
            <a:avLst/>
          </a:prstGeom>
          <a:solidFill>
            <a:srgbClr val="1C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920x1080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61872"/>
            <a:ext cx="6537960" cy="3675887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1941271" y="2805744"/>
            <a:ext cx="292608" cy="29260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1271" y="2810316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3118104" y="3136574"/>
            <a:ext cx="292608" cy="29260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8104" y="3141146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2856585" y="3540922"/>
            <a:ext cx="292608" cy="29260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6585" y="3545494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3510381" y="3798234"/>
            <a:ext cx="292608" cy="29260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0381" y="3802806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8624" y="1207008"/>
            <a:ext cx="2971800" cy="5404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9792" y="1399032"/>
            <a:ext cx="1161288" cy="283464"/>
          </a:xfrm>
          <a:prstGeom prst="round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1458468"/>
            <a:ext cx="1014984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REVIEWER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79792" y="1810512"/>
            <a:ext cx="2569464" cy="8321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98664" y="1956816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98664" y="1961388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0144" y="1920240"/>
            <a:ext cx="191109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Enter a 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2148840"/>
            <a:ext cx="1911095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76B72"/>
                </a:solidFill>
                <a:latin typeface="Arial"/>
              </a:rPr>
              <a:t>Press Down from the header / hero.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2752344"/>
            <a:ext cx="2569464" cy="8321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98664" y="2898648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98664" y="2903220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4" y="2862072"/>
            <a:ext cx="191109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Move focus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3090672"/>
            <a:ext cx="1911095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76B72"/>
                </a:solidFill>
                <a:latin typeface="Arial"/>
              </a:rPr>
              <a:t>Use Left/Right to browse the row.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79792" y="3694176"/>
            <a:ext cx="2569464" cy="8321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98664" y="3840480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98664" y="3845052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0144" y="3803904"/>
            <a:ext cx="191109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Confirm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0144" y="4032504"/>
            <a:ext cx="1911095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76B72"/>
                </a:solidFill>
                <a:latin typeface="Arial"/>
              </a:rPr>
              <a:t>Focused card expands and receives a white border.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79792" y="4636008"/>
            <a:ext cx="2569464" cy="8321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598664" y="4782312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98664" y="4786884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4" y="4745736"/>
            <a:ext cx="191109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Open title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4" y="4974336"/>
            <a:ext cx="1911095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76B72"/>
                </a:solidFill>
                <a:latin typeface="Arial"/>
              </a:rPr>
              <a:t>Press OK to open the selected asset.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148072"/>
            <a:ext cx="6537960" cy="14630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4944" y="5358384"/>
            <a:ext cx="1225296" cy="283464"/>
          </a:xfrm>
          <a:prstGeom prst="roundRect">
            <a:avLst/>
          </a:prstGeom>
          <a:solidFill>
            <a:srgbClr val="168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417820"/>
            <a:ext cx="1078992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EXPECTED RESULT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" y="5751576"/>
            <a:ext cx="6108192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C1C1F"/>
                </a:solidFill>
                <a:latin typeface="Arial"/>
              </a:rPr>
              <a:t>Focus never disappears while navigating. The selected landscape card is visually distinct, adjacent cards remain available, and OK opens the matching detail page. Back returns to the previous rail position.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" y="7068312"/>
            <a:ext cx="9811512" cy="10972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7150608"/>
            <a:ext cx="566928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JOJO  |  LG webOS TV UX Scenario  |  v1.0.0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7150608"/>
            <a:ext cx="2331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29 SEP 2026   •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118872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OJ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9456"/>
            <a:ext cx="960120" cy="308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632" y="228600"/>
            <a:ext cx="29260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6F20"/>
                </a:solidFill>
                <a:latin typeface="Arial"/>
              </a:rPr>
              <a:t>5. SUB PAGE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438912"/>
            <a:ext cx="8138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1C1F"/>
                </a:solidFill>
                <a:latin typeface="Arial"/>
              </a:rPr>
              <a:t>Asset Detail — Play &amp; Watchlist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25603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6B72"/>
                </a:solidFill>
                <a:latin typeface="Arial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60120"/>
            <a:ext cx="9811512" cy="13716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" y="1207007"/>
            <a:ext cx="6647688" cy="3785615"/>
          </a:xfrm>
          <a:prstGeom prst="roundRect">
            <a:avLst/>
          </a:prstGeom>
          <a:solidFill>
            <a:srgbClr val="1C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920x1080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61872"/>
            <a:ext cx="6537960" cy="3675887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791206" y="3246851"/>
            <a:ext cx="292608" cy="29260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1206" y="3251423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2791206" y="3834993"/>
            <a:ext cx="292608" cy="29260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91206" y="3839565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3183483" y="3834993"/>
            <a:ext cx="292608" cy="29260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3483" y="3839565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1025956" y="1850014"/>
            <a:ext cx="292608" cy="29260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5956" y="1854586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8624" y="1207008"/>
            <a:ext cx="2971800" cy="5404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9792" y="1399032"/>
            <a:ext cx="1161288" cy="283464"/>
          </a:xfrm>
          <a:prstGeom prst="round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1458468"/>
            <a:ext cx="1014984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REVIEWER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79792" y="1810512"/>
            <a:ext cx="2569464" cy="8321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98664" y="1956816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98664" y="1961388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0144" y="1920240"/>
            <a:ext cx="191109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Review metadata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2148840"/>
            <a:ext cx="1911095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76B72"/>
                </a:solidFill>
                <a:latin typeface="Arial"/>
              </a:rPr>
              <a:t>Title, rating, year, duration, genre and synopsis are displayed.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2752344"/>
            <a:ext cx="2569464" cy="8321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98664" y="2898648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98664" y="2903220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4" y="2862072"/>
            <a:ext cx="191109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Select Play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3090672"/>
            <a:ext cx="1911095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76B72"/>
                </a:solidFill>
                <a:latin typeface="Arial"/>
              </a:rPr>
              <a:t>Move to Play and press OK.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79792" y="3694176"/>
            <a:ext cx="2569464" cy="8321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98664" y="3840480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98664" y="3845052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0144" y="3803904"/>
            <a:ext cx="191109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Optional save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0144" y="4032504"/>
            <a:ext cx="1911095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76B72"/>
                </a:solidFill>
                <a:latin typeface="Arial"/>
              </a:rPr>
              <a:t>Select + to add or remove the title from Watchlist.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79792" y="4636008"/>
            <a:ext cx="2569464" cy="8321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598664" y="4782312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98664" y="4786884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4" y="4745736"/>
            <a:ext cx="191109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Return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4" y="4974336"/>
            <a:ext cx="1911095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76B72"/>
                </a:solidFill>
                <a:latin typeface="Arial"/>
              </a:rPr>
              <a:t>Back closes the page and restores the prior browse context.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148072"/>
            <a:ext cx="6537960" cy="14630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4944" y="5358384"/>
            <a:ext cx="1225296" cy="283464"/>
          </a:xfrm>
          <a:prstGeom prst="roundRect">
            <a:avLst/>
          </a:prstGeom>
          <a:solidFill>
            <a:srgbClr val="168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417820"/>
            <a:ext cx="1078992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EXPECTED RESULT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" y="5751576"/>
            <a:ext cx="6108192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C1C1F"/>
                </a:solidFill>
                <a:latin typeface="Arial"/>
              </a:rPr>
              <a:t>Play starts the selected asset (or the access / purchase flow when entitlement is required). Watchlist updates give visible confirmation and the detail page remains fully remote-operable.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" y="7068312"/>
            <a:ext cx="9811512" cy="10972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7150608"/>
            <a:ext cx="566928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JOJO  |  LG webOS TV UX Scenario  |  v1.0.0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7150608"/>
            <a:ext cx="2331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29 SEP 2026   •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118872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OJ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9456"/>
            <a:ext cx="960120" cy="308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632" y="228600"/>
            <a:ext cx="29260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6F20"/>
                </a:solidFill>
                <a:latin typeface="Arial"/>
              </a:rPr>
              <a:t>5. SUB PAGE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438912"/>
            <a:ext cx="8138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1C1F"/>
                </a:solidFill>
                <a:latin typeface="Arial"/>
              </a:rPr>
              <a:t>Series Detail — Seasons &amp; Episodes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25603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6B72"/>
                </a:solidFill>
                <a:latin typeface="Arial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60120"/>
            <a:ext cx="9811512" cy="13716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" y="1207007"/>
            <a:ext cx="6647688" cy="3785615"/>
          </a:xfrm>
          <a:prstGeom prst="roundRect">
            <a:avLst/>
          </a:prstGeom>
          <a:solidFill>
            <a:srgbClr val="1C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920x1080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61872"/>
            <a:ext cx="6537960" cy="3675887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464308" y="2695468"/>
            <a:ext cx="292608" cy="29260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4308" y="2700040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2268169" y="2952780"/>
            <a:ext cx="292608" cy="29260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8169" y="2957352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3771900" y="3393887"/>
            <a:ext cx="292608" cy="29260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1900" y="3398459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4229557" y="3724716"/>
            <a:ext cx="292608" cy="29260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9557" y="3729288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8624" y="1207008"/>
            <a:ext cx="2971800" cy="5404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9792" y="1399032"/>
            <a:ext cx="1161288" cy="283464"/>
          </a:xfrm>
          <a:prstGeom prst="round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1458468"/>
            <a:ext cx="1014984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REVIEWER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79792" y="1810512"/>
            <a:ext cx="2569464" cy="8321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98664" y="1956816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98664" y="1961388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0144" y="1920240"/>
            <a:ext cx="191109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Open Episodes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2148840"/>
            <a:ext cx="1911095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76B72"/>
                </a:solidFill>
                <a:latin typeface="Arial"/>
              </a:rPr>
              <a:t>Select an episodic title and move to Episodes.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2752344"/>
            <a:ext cx="2569464" cy="8321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98664" y="2898648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98664" y="2903220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4" y="2862072"/>
            <a:ext cx="191109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Choose season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3090672"/>
            <a:ext cx="1911095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76B72"/>
                </a:solidFill>
                <a:latin typeface="Arial"/>
              </a:rPr>
              <a:t>Use the season selector when multiple seasons exist.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79792" y="3694176"/>
            <a:ext cx="2569464" cy="8321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98664" y="3840480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98664" y="3845052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0144" y="3803904"/>
            <a:ext cx="191109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Browse episode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0144" y="4032504"/>
            <a:ext cx="1911095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76B72"/>
                </a:solidFill>
                <a:latin typeface="Arial"/>
              </a:rPr>
              <a:t>Move Up/Down through image, title, number, runtime and synopsis.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79792" y="4636008"/>
            <a:ext cx="2569464" cy="8321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598664" y="4782312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98664" y="4786884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4" y="4745736"/>
            <a:ext cx="191109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Start playback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4" y="4974336"/>
            <a:ext cx="1911095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76B72"/>
                </a:solidFill>
                <a:latin typeface="Arial"/>
              </a:rPr>
              <a:t>Press OK on an episode.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148072"/>
            <a:ext cx="6537960" cy="14630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4944" y="5358384"/>
            <a:ext cx="1225296" cy="283464"/>
          </a:xfrm>
          <a:prstGeom prst="roundRect">
            <a:avLst/>
          </a:prstGeom>
          <a:solidFill>
            <a:srgbClr val="168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417820"/>
            <a:ext cx="1078992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EXPECTED RESULT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" y="5751576"/>
            <a:ext cx="6108192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C1C1F"/>
                </a:solidFill>
                <a:latin typeface="Arial"/>
              </a:rPr>
              <a:t>The selected season refreshes its episode list. Each episode exposes sufficient metadata, focus remains visible while scrolling, and OK launches exactly the highlighted episode.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" y="7068312"/>
            <a:ext cx="9811512" cy="10972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7150608"/>
            <a:ext cx="566928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JOJO  |  LG webOS TV UX Scenario  |  v1.0.0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7150608"/>
            <a:ext cx="2331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29 SEP 2026   •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118872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OJ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9456"/>
            <a:ext cx="960120" cy="308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632" y="228600"/>
            <a:ext cx="29260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6F20"/>
                </a:solidFill>
                <a:latin typeface="Arial"/>
              </a:rPr>
              <a:t>5. SUB PAGE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438912"/>
            <a:ext cx="8138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1C1F"/>
                </a:solidFill>
                <a:latin typeface="Arial"/>
              </a:rPr>
              <a:t>Search — Keyboard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25603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6B72"/>
                </a:solidFill>
                <a:latin typeface="Arial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60120"/>
            <a:ext cx="9811512" cy="13716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" y="1207007"/>
            <a:ext cx="6647688" cy="3785615"/>
          </a:xfrm>
          <a:prstGeom prst="roundRect">
            <a:avLst/>
          </a:prstGeom>
          <a:solidFill>
            <a:srgbClr val="1C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1920x1080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61872"/>
            <a:ext cx="6537960" cy="3675887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4491075" y="2511673"/>
            <a:ext cx="292608" cy="29260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1075" y="2516245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1810512" y="3540922"/>
            <a:ext cx="292608" cy="29260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10512" y="3545494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4687214" y="3099815"/>
            <a:ext cx="292608" cy="29260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7214" y="3104387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5471769" y="3651199"/>
            <a:ext cx="292608" cy="29260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71769" y="3655771"/>
            <a:ext cx="29260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8624" y="1207008"/>
            <a:ext cx="2971800" cy="5404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9792" y="1399032"/>
            <a:ext cx="1161288" cy="283464"/>
          </a:xfrm>
          <a:prstGeom prst="round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1458468"/>
            <a:ext cx="1014984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REVIEWER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79792" y="1810512"/>
            <a:ext cx="2569464" cy="8321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98664" y="1956816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98664" y="1961388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0144" y="1920240"/>
            <a:ext cx="191109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Open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2148840"/>
            <a:ext cx="1911095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76B72"/>
                </a:solidFill>
                <a:latin typeface="Arial"/>
              </a:rPr>
              <a:t>Select the search icon in the global header.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9792" y="2752344"/>
            <a:ext cx="2569464" cy="8321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98664" y="2898648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98664" y="2903220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4" y="2862072"/>
            <a:ext cx="191109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Enter 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3090672"/>
            <a:ext cx="1911095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76B72"/>
                </a:solidFill>
                <a:latin typeface="Arial"/>
              </a:rPr>
              <a:t>Use D-pad + OK on the on-screen keyboard.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79792" y="3694176"/>
            <a:ext cx="2569464" cy="8321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98664" y="3840480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98664" y="3845052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0144" y="3803904"/>
            <a:ext cx="191109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Review 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0144" y="4032504"/>
            <a:ext cx="1911095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76B72"/>
                </a:solidFill>
                <a:latin typeface="Arial"/>
              </a:rPr>
              <a:t>Results / top searches appear as portrait cards.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79792" y="4636008"/>
            <a:ext cx="2569464" cy="83210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598664" y="4782312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98664" y="4786884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4" y="4745736"/>
            <a:ext cx="191109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Open result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4" y="4974336"/>
            <a:ext cx="1911095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76B72"/>
                </a:solidFill>
                <a:latin typeface="Arial"/>
              </a:rPr>
              <a:t>Move into the grid and press OK on a title.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148072"/>
            <a:ext cx="6537960" cy="14630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4944" y="5358384"/>
            <a:ext cx="1225296" cy="283464"/>
          </a:xfrm>
          <a:prstGeom prst="roundRect">
            <a:avLst/>
          </a:prstGeom>
          <a:solidFill>
            <a:srgbClr val="168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417820"/>
            <a:ext cx="1078992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EXPECTED RESULT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" y="5751576"/>
            <a:ext cx="6108192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C1C1F"/>
                </a:solidFill>
                <a:latin typeface="Arial"/>
              </a:rPr>
              <a:t>Search accepts letters, numbers, Space, Delete and Clear. The portrait results retain title artwork, focused cards are visible, and a chosen result opens its matching detail page.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" y="7068312"/>
            <a:ext cx="9811512" cy="10972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7150608"/>
            <a:ext cx="566928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JOJO  |  LG webOS TV UX Scenario  |  v1.0.0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7150608"/>
            <a:ext cx="2331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29 SEP 2026   •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118872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OJ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9456"/>
            <a:ext cx="960120" cy="308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632" y="228600"/>
            <a:ext cx="29260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6F20"/>
                </a:solidFill>
                <a:latin typeface="Arial"/>
              </a:rPr>
              <a:t>6. PAID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438912"/>
            <a:ext cx="8138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1C1F"/>
                </a:solidFill>
                <a:latin typeface="Arial"/>
              </a:rPr>
              <a:t>JOJO Gold &amp; Transactional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25603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6B72"/>
                </a:solidFill>
                <a:latin typeface="Arial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60120"/>
            <a:ext cx="9811512" cy="13716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408176"/>
            <a:ext cx="2185416" cy="1399032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8952" y="1572768"/>
            <a:ext cx="338328" cy="33832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77339"/>
            <a:ext cx="3383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554480"/>
            <a:ext cx="1325880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C1C1F"/>
                </a:solidFill>
                <a:latin typeface="Arial"/>
              </a:rPr>
              <a:t>Open Get Gold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048256"/>
            <a:ext cx="181051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76B72"/>
                </a:solidFill>
                <a:latin typeface="Arial"/>
              </a:rPr>
              <a:t>Choose Get Gold in the global navigation.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54096" y="1408176"/>
            <a:ext cx="2185416" cy="1399032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18688" y="1572768"/>
            <a:ext cx="338328" cy="33832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8688" y="1577339"/>
            <a:ext cx="3383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1554480"/>
            <a:ext cx="1325880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C1C1F"/>
                </a:solidFill>
                <a:latin typeface="Arial"/>
              </a:rPr>
              <a:t>Select offer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2048256"/>
            <a:ext cx="181051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76B72"/>
                </a:solidFill>
                <a:latin typeface="Arial"/>
              </a:rPr>
              <a:t>Review the plan / price available for the service country.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13832" y="1408176"/>
            <a:ext cx="2185416" cy="1399032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78424" y="1572768"/>
            <a:ext cx="338328" cy="33832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78424" y="1577339"/>
            <a:ext cx="3383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554480"/>
            <a:ext cx="1325880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C1C1F"/>
                </a:solidFill>
                <a:latin typeface="Arial"/>
              </a:rPr>
              <a:t>Complete payment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78424" y="2048256"/>
            <a:ext cx="181051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76B72"/>
                </a:solidFill>
                <a:latin typeface="Arial"/>
              </a:rPr>
              <a:t>Follow the configured Razorpay or Stripe/Card route.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1408176"/>
            <a:ext cx="2185416" cy="1399032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38160" y="1572768"/>
            <a:ext cx="338328" cy="338328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1577339"/>
            <a:ext cx="3383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6216" y="1554480"/>
            <a:ext cx="1325880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C1C1F"/>
                </a:solidFill>
                <a:latin typeface="Arial"/>
              </a:rPr>
              <a:t>Refresh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048256"/>
            <a:ext cx="181051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76B72"/>
                </a:solidFill>
                <a:latin typeface="Arial"/>
              </a:rPr>
              <a:t>Success updates entitlement; failure offers retry/back.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182112"/>
            <a:ext cx="4599432" cy="2459736"/>
          </a:xfrm>
          <a:prstGeom prst="roundRect">
            <a:avLst/>
          </a:prstGeom>
          <a:solidFill>
            <a:srgbClr val="1C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JOJO-GOL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74720"/>
            <a:ext cx="1554480" cy="1828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8680" y="4160520"/>
            <a:ext cx="1325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6F20"/>
                </a:solidFill>
                <a:latin typeface="Arial"/>
              </a:rPr>
              <a:t>Access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480560"/>
            <a:ext cx="3931920" cy="10241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010" b="0">
                <a:solidFill>
                  <a:srgbClr val="FFFFFF"/>
                </a:solidFill>
                <a:latin typeface="Arial"/>
              </a:defRPr>
            </a:pPr>
            <a:r>
              <a:t>•  Free / AVOD titles play when no premium entitlement is required.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010" b="0">
                <a:solidFill>
                  <a:srgbClr val="FFFFFF"/>
                </a:solidFill>
                <a:latin typeface="Arial"/>
              </a:defRPr>
            </a:pPr>
            <a:r>
              <a:t>•  Gold unlocks eligible premium viewing and removes in-video ads.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010" b="0">
                <a:solidFill>
                  <a:srgbClr val="FFFFFF"/>
                </a:solidFill>
                <a:latin typeface="Arial"/>
              </a:defRPr>
            </a:pPr>
            <a:r>
              <a:t>•  TVOD titles can request a one-time transaction before playback.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49824" y="3182112"/>
            <a:ext cx="4626864" cy="2459736"/>
          </a:xfrm>
          <a:prstGeom prst="roundRect">
            <a:avLst/>
          </a:prstGeom>
          <a:solidFill>
            <a:srgbClr val="FFF6EE"/>
          </a:solidFill>
          <a:ln w="12700">
            <a:solidFill>
              <a:srgbClr val="FBC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05856" y="3456432"/>
            <a:ext cx="1335024" cy="283464"/>
          </a:xfrm>
          <a:prstGeom prst="roundRect">
            <a:avLst/>
          </a:prstGeom>
          <a:solidFill>
            <a:srgbClr val="CB4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79008" y="3515868"/>
            <a:ext cx="11887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CERTIFICATION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05856" y="3931920"/>
            <a:ext cx="400507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C1F"/>
                </a:solidFill>
                <a:latin typeface="Arial"/>
              </a:rPr>
              <a:t>Payment test data must be supplied separately in Seller Lounge → Test Info.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05856" y="4663440"/>
            <a:ext cx="402336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676B72"/>
                </a:solidFill>
                <a:latin typeface="Arial"/>
              </a:rPr>
              <a:t>Include the reviewer account, selected country, plan/asset to test and provider-approved test instrument. Never upload a real customer's card or OTP.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" y="7068312"/>
            <a:ext cx="9811512" cy="10972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7150608"/>
            <a:ext cx="566928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JOJO  |  LG webOS TV UX Scenario  |  v1.0.0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7150608"/>
            <a:ext cx="2331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29 SEP 2026   •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118872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OJ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9456"/>
            <a:ext cx="960120" cy="308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632" y="228600"/>
            <a:ext cx="29260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6F20"/>
                </a:solidFill>
                <a:latin typeface="Arial"/>
              </a:rPr>
              <a:t>7. IN-APP 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438912"/>
            <a:ext cx="8138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1C1F"/>
                </a:solidFill>
                <a:latin typeface="Arial"/>
              </a:rPr>
              <a:t>In-Video Advertisement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25603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6B72"/>
                </a:solidFill>
                <a:latin typeface="Arial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60120"/>
            <a:ext cx="9811512" cy="13716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" y="1325880"/>
            <a:ext cx="2852928" cy="78638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1325880"/>
            <a:ext cx="73152" cy="786384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35607"/>
            <a:ext cx="2523744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76B72"/>
                </a:solidFill>
                <a:latin typeface="Arial"/>
              </a:rPr>
              <a:t>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36776"/>
            <a:ext cx="2523744" cy="420623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VAST / VMAP in-video advertisements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22776" y="1325880"/>
            <a:ext cx="2852928" cy="78638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22776" y="1325880"/>
            <a:ext cx="73152" cy="786384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33088" y="1435607"/>
            <a:ext cx="2523744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76B72"/>
                </a:solidFill>
                <a:latin typeface="Arial"/>
              </a:rPr>
              <a:t>PLACEMENT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8" y="1636776"/>
            <a:ext cx="2523744" cy="420623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Pre-, mid- or post-roll per server schedule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2904" y="1325880"/>
            <a:ext cx="2852928" cy="78638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32904" y="1325880"/>
            <a:ext cx="73152" cy="786384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3216" y="1435607"/>
            <a:ext cx="2523744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76B72"/>
                </a:solidFill>
                <a:latin typeface="Arial"/>
              </a:rPr>
              <a:t>ELIGIBILITY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6" y="1636776"/>
            <a:ext cx="2523744" cy="420623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Ad-enabled Free / AVOD playback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2514600"/>
            <a:ext cx="5797296" cy="713232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2" y="2679192"/>
            <a:ext cx="310896" cy="310896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2683764"/>
            <a:ext cx="3108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2642616"/>
            <a:ext cx="1600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Start eligible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5224" y="2633472"/>
            <a:ext cx="318211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76B72"/>
                </a:solidFill>
                <a:latin typeface="Arial"/>
              </a:rPr>
              <a:t>Select Play on a free/ad-enabled asset.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" y="3410712"/>
            <a:ext cx="5797296" cy="713232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3575304"/>
            <a:ext cx="310896" cy="310896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3579876"/>
            <a:ext cx="3108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3538728"/>
            <a:ext cx="1600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Ad break begins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35224" y="3529584"/>
            <a:ext cx="318211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76B72"/>
                </a:solidFill>
                <a:latin typeface="Arial"/>
              </a:rPr>
              <a:t>The ad overlay shows progress; main content is paused.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" y="4306824"/>
            <a:ext cx="5797296" cy="713232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4672" y="4471416"/>
            <a:ext cx="310896" cy="310896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475988"/>
            <a:ext cx="3108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434840"/>
            <a:ext cx="1600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Use allowed controls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35224" y="4425696"/>
            <a:ext cx="318211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76B72"/>
                </a:solidFill>
                <a:latin typeface="Arial"/>
              </a:rPr>
              <a:t>Play/Pause and Mute are available; Skip appears only when permitted.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" y="5202936"/>
            <a:ext cx="5797296" cy="713232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04672" y="5367527"/>
            <a:ext cx="310896" cy="310896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5372099"/>
            <a:ext cx="31089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5330951"/>
            <a:ext cx="1600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1C1F"/>
                </a:solidFill>
                <a:latin typeface="Arial"/>
              </a:rPr>
              <a:t>Resume programme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35224" y="5321807"/>
            <a:ext cx="318211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76B72"/>
                </a:solidFill>
                <a:latin typeface="Arial"/>
              </a:rPr>
              <a:t>Content continues automatically when the break completes.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11696" y="2514600"/>
            <a:ext cx="3374136" cy="3401568"/>
          </a:xfrm>
          <a:prstGeom prst="roundRect">
            <a:avLst/>
          </a:prstGeom>
          <a:solidFill>
            <a:srgbClr val="1C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986016" y="2798064"/>
            <a:ext cx="1335024" cy="283464"/>
          </a:xfrm>
          <a:prstGeom prst="round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59168" y="2857500"/>
            <a:ext cx="11887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EXPECTED BEHAVIOR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67728" y="3255264"/>
            <a:ext cx="2798064" cy="2066543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•  Gold / ad-free entitlement suppresses configured video ads.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•  Back does not accidentally abandon playback without the intended navigation response.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•  After an ad error or no-fill, playback continues according to the configured fail-safe.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•  No banner overlay is documented on the Home navigation pages in this revision.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76872" y="5422392"/>
            <a:ext cx="277063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1">
                <a:solidFill>
                  <a:srgbClr val="C2C5CA"/>
                </a:solidFill>
                <a:latin typeface="Arial"/>
              </a:rPr>
              <a:t>Ad inventory is network-dependent; reviewers should use an enabled test account/asset supplied in Test Info.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" y="7068312"/>
            <a:ext cx="9811512" cy="10972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7150608"/>
            <a:ext cx="566928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JOJO  |  LG webOS TV UX Scenario  |  v1.0.0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7150608"/>
            <a:ext cx="2331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29 SEP 2026   •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118872"/>
          </a:xfrm>
          <a:prstGeom prst="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OJ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9456"/>
            <a:ext cx="960120" cy="308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632" y="228600"/>
            <a:ext cx="29260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6F20"/>
                </a:solidFill>
                <a:latin typeface="Arial"/>
              </a:rPr>
              <a:t>8. REVIEWER TEST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7632" y="438912"/>
            <a:ext cx="8138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1C1F"/>
                </a:solidFill>
                <a:latin typeface="Arial"/>
              </a:rPr>
              <a:t>Pre-Submission Handoff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25603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6B72"/>
                </a:solidFill>
                <a:latin typeface="Arial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960120"/>
            <a:ext cx="9811512" cy="13716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43584"/>
            <a:ext cx="8961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6B72"/>
                </a:solidFill>
                <a:latin typeface="Arial"/>
              </a:rPr>
              <a:t>Complete these four items in Seller Lounge before submitting the application.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73936"/>
            <a:ext cx="9427464" cy="78638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2104" y="1984248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1988819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929384"/>
            <a:ext cx="19385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Reviewer 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1920240"/>
            <a:ext cx="5010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6B72"/>
                </a:solidFill>
                <a:latin typeface="Arial"/>
              </a:rPr>
              <a:t>A non-customer test login or QR pairing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3376" y="2011680"/>
            <a:ext cx="1033271" cy="283464"/>
          </a:xfrm>
          <a:prstGeom prst="round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528" y="2071116"/>
            <a:ext cx="886967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REQUIRED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2779776"/>
            <a:ext cx="9427464" cy="78638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" y="2990088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2994660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2935224"/>
            <a:ext cx="19385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OTP method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2926080"/>
            <a:ext cx="5010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6B72"/>
                </a:solidFill>
                <a:latin typeface="Arial"/>
              </a:rPr>
              <a:t>Stable OTP, assisted flow or precise retrieval instructions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23376" y="3017520"/>
            <a:ext cx="1033271" cy="283464"/>
          </a:xfrm>
          <a:prstGeom prst="roundRect">
            <a:avLst/>
          </a:prstGeom>
          <a:solidFill>
            <a:srgbClr val="F56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96528" y="3076956"/>
            <a:ext cx="886967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REQUIRED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3785616"/>
            <a:ext cx="9427464" cy="78638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2104" y="3995928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4000500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3941064"/>
            <a:ext cx="19385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Paid-content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74136" y="3931920"/>
            <a:ext cx="5010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6B72"/>
                </a:solidFill>
                <a:latin typeface="Arial"/>
              </a:rPr>
              <a:t>Plan/asset, country and approved test payment method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23376" y="4023360"/>
            <a:ext cx="1033271" cy="283464"/>
          </a:xfrm>
          <a:prstGeom prst="roundRect">
            <a:avLst/>
          </a:prstGeom>
          <a:solidFill>
            <a:srgbClr val="676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96528" y="4082796"/>
            <a:ext cx="886967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IF ENABLED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4791456"/>
            <a:ext cx="9427464" cy="786384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2104" y="5001768"/>
            <a:ext cx="320040" cy="320040"/>
          </a:xfrm>
          <a:prstGeom prst="ellipse">
            <a:avLst/>
          </a:prstGeom>
          <a:solidFill>
            <a:srgbClr val="F56F2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" y="5006340"/>
            <a:ext cx="320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" y="4946904"/>
            <a:ext cx="19385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1C1F"/>
                </a:solidFill>
                <a:latin typeface="Arial"/>
              </a:rPr>
              <a:t>Ad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74136" y="4937760"/>
            <a:ext cx="5010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6B72"/>
                </a:solidFill>
                <a:latin typeface="Arial"/>
              </a:rPr>
              <a:t>An ad-enabled free asset and expected break position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23376" y="5029200"/>
            <a:ext cx="1033271" cy="283464"/>
          </a:xfrm>
          <a:prstGeom prst="roundRect">
            <a:avLst/>
          </a:prstGeom>
          <a:solidFill>
            <a:srgbClr val="676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96528" y="5088636"/>
            <a:ext cx="886967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FFFFF"/>
                </a:solidFill>
                <a:latin typeface="Arial"/>
              </a:rPr>
              <a:t>IF ENABLED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5961888"/>
            <a:ext cx="9427464" cy="658368"/>
          </a:xfrm>
          <a:prstGeom prst="roundRect">
            <a:avLst/>
          </a:prstGeom>
          <a:solidFill>
            <a:srgbClr val="1C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6181344"/>
            <a:ext cx="1143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56F20"/>
                </a:solidFill>
                <a:latin typeface="Arial"/>
              </a:rPr>
              <a:t>Support contact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84831" y="6144768"/>
            <a:ext cx="7589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FFFFFF"/>
                </a:solidFill>
                <a:latin typeface="Arial"/>
              </a:rPr>
              <a:t>JOJO Limited  •  support@appjojo.in  •  App ID in.jojoapp.jojo  •  Version 1.0.0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" y="7068312"/>
            <a:ext cx="9811512" cy="10972"/>
          </a:xfrm>
          <a:prstGeom prst="rect">
            <a:avLst/>
          </a:prstGeom>
          <a:solidFill>
            <a:srgbClr val="DDD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7150608"/>
            <a:ext cx="566928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JOJO  |  LG webOS TV UX Scenario  |  v1.0.0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7150608"/>
            <a:ext cx="2331720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76B72"/>
                </a:solidFill>
                <a:latin typeface="Arial"/>
              </a:rPr>
              <a:t>29 SEP 2026   • 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JOJO LG webOS TV UX Scenario</dc:title>
  <dc:subject>LG Seller Lounge UX Scenario Document</dc:subject>
  <dc:creator>JOJO Limited</dc:creator>
  <cp:keywords>JOJO, LG, webOS, UX Scenario, Seller Lounge</cp:keywords>
  <dc:description>Created from LG UX Scenario template structure and JOJO-provided screenshots.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